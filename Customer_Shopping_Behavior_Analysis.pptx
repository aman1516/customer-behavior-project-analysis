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Revenue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Revenue by Age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8CAE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Subscription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D1D5D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Subscribers (Yes)</c:v>
                </c:pt>
                <c:pt idx="1">
                  <c:v>Non-Subscribers (No)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27</c:v>
                </c:pt>
                <c:pt idx="1">
                  <c:v>73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DATA ANALYSIS 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insights from 3,900 transactions across product categories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drive smarter business decisions.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931920"/>
            <a:ext cx="192024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9319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4407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3931920"/>
            <a:ext cx="192024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9319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4407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 Columns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931920"/>
            <a:ext cx="192024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9319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4407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3931920"/>
            <a:ext cx="192024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9319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4407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Segments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283464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DD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834640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Demographics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Age &amp; Gender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Location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Subscription Status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83464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DD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283464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34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Purchase Details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Item &amp; Category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Purchase Amount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Season, Size &amp; Color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83464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DD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34440"/>
            <a:ext cx="2834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34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Shopping Behavior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Discount &amp; Promo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Purchase Frequency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Review Rating &amp; Shipping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⚠  Missing Data: 37 values in Review Rating — imputed using category median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846320" y="118872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💡  Male customers generated 2.1× more revenue than female customers. Young Adults lead all age groups.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Shipping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325880"/>
            <a:ext cx="4114800" cy="1371600"/>
          </a:xfrm>
          <a:prstGeom prst="rect">
            <a:avLst/>
          </a:prstGeom>
          <a:solidFill>
            <a:srgbClr val="F0F7FA"/>
          </a:solidFill>
          <a:ln w="12700">
            <a:solidFill>
              <a:srgbClr val="DD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1325880"/>
            <a:ext cx="91440" cy="1371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Subscribers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0" y="1764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93776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Avg spend: $59.49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2880360"/>
            <a:ext cx="4114800" cy="1371600"/>
          </a:xfrm>
          <a:prstGeom prst="rect">
            <a:avLst/>
          </a:prstGeom>
          <a:solidFill>
            <a:srgbClr val="F0F7FA"/>
          </a:solidFill>
          <a:ln w="12700">
            <a:solidFill>
              <a:srgbClr val="DD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880360"/>
            <a:ext cx="91440" cy="13716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3017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Non-Subscribers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33192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93776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Avg spend: $59.87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4453128"/>
            <a:ext cx="41148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44531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Shipping: Standard $58.46  vs  Express $60.48 avg purchase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💡  Of repeat buyers (&gt;5 purchases): 2,518 are non-subscribers vs 958 subscribers — big upsell opportunity!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&amp; Discounts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Top 5 Rated Products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114800" cy="50292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1. Gloves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1719072"/>
            <a:ext cx="146304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719072"/>
            <a:ext cx="1129467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5544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★ 3.86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2. Sandals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313432"/>
            <a:ext cx="146304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313432"/>
            <a:ext cx="1123615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1488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★ 3.84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114800" cy="50292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3. Boots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2907792"/>
            <a:ext cx="146304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2907792"/>
            <a:ext cx="1117763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7432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★ 3.82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3756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37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4. Hat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0" y="3502152"/>
            <a:ext cx="146304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3502152"/>
            <a:ext cx="111191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3337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★ 3.8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931920"/>
            <a:ext cx="4114800" cy="50292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931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5. Skirt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0" y="4096512"/>
            <a:ext cx="146304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4096512"/>
            <a:ext cx="1106058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960" y="39319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★ 3.78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Discount-Dependent Products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1554480"/>
            <a:ext cx="4114800" cy="50292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554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1. Hat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32320" y="1719072"/>
            <a:ext cx="12801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1719072"/>
            <a:ext cx="640080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15544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50%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21488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148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2. Sneakers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132320" y="2313432"/>
            <a:ext cx="12801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0" y="2313432"/>
            <a:ext cx="635727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58200" y="2148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49.66%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2743200"/>
            <a:ext cx="4114800" cy="50292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3. Coat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132320" y="2907792"/>
            <a:ext cx="12801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2320" y="2907792"/>
            <a:ext cx="628175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58200" y="2743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49.07%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54880" y="333756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337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4. Sweater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132320" y="3502152"/>
            <a:ext cx="12801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0" y="3502152"/>
            <a:ext cx="616653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58200" y="3337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48.17%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54880" y="3931920"/>
            <a:ext cx="4114800" cy="50292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3931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5. Pants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132320" y="4096512"/>
            <a:ext cx="12801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32320" y="4096512"/>
            <a:ext cx="606412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58200" y="3931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47.37%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572000" y="1143000"/>
            <a:ext cx="0" cy="33375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💡  Nearly 50% of Hat, Sneakers, and Coat purchases use discounts — review margin impact carefully.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2834640" cy="3200400"/>
          </a:xfrm>
          <a:prstGeom prst="rect">
            <a:avLst/>
          </a:prstGeom>
          <a:solidFill>
            <a:srgbClr val="F0F7FA"/>
          </a:solidFill>
          <a:ln w="12700">
            <a:solidFill>
              <a:srgbClr val="DD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8346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👑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9933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2423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" y="30175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337560"/>
            <a:ext cx="182651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5204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79.9% of customers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8221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Customers with extensive purchase history — the core revenue base.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234440"/>
            <a:ext cx="2834640" cy="3200400"/>
          </a:xfrm>
          <a:prstGeom prst="rect">
            <a:avLst/>
          </a:prstGeom>
          <a:solidFill>
            <a:srgbClr val="F0F7FA"/>
          </a:solidFill>
          <a:ln w="12700">
            <a:solidFill>
              <a:srgbClr val="DD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234440"/>
            <a:ext cx="283464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417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00400" y="19933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00400" y="2423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200400" y="30175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customers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3337560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3337560"/>
            <a:ext cx="41148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5204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18.0% of customers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8221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Customers who've come back — high potential to convert to Loyal.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1234440"/>
            <a:ext cx="2834640" cy="3200400"/>
          </a:xfrm>
          <a:prstGeom prst="rect">
            <a:avLst/>
          </a:prstGeom>
          <a:solidFill>
            <a:srgbClr val="F0F7FA"/>
          </a:solidFill>
          <a:ln w="12700">
            <a:solidFill>
              <a:srgbClr val="DD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234440"/>
            <a:ext cx="2834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417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✨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126480" y="19933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26480" y="2423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126480" y="30175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customers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3337560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3337560"/>
            <a:ext cx="48006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5204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2.1% of customers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8221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First-time buyers — focus on onboarding and first experience.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💡  Loyal customers dominate at 80% — invest in retention programs to prevent churn from this core group.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Category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88720"/>
            <a:ext cx="2103120" cy="3520440"/>
          </a:xfrm>
          <a:prstGeom prst="rect">
            <a:avLst/>
          </a:prstGeom>
          <a:solidFill>
            <a:srgbClr val="F0F7FA"/>
          </a:solidFill>
          <a:ln w="12700">
            <a:solidFill>
              <a:srgbClr val="DD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21031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88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Accessories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901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#1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19019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Jewelry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2304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171 orders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86207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#2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" y="28620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Sunglasses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" y="32644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161 orders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8221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#3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" y="38221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Belt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" y="4224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161 orders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41448" y="1188720"/>
            <a:ext cx="2103120" cy="3520440"/>
          </a:xfrm>
          <a:prstGeom prst="rect">
            <a:avLst/>
          </a:prstGeom>
          <a:solidFill>
            <a:srgbClr val="F0F7FA"/>
          </a:solidFill>
          <a:ln w="12700">
            <a:solidFill>
              <a:srgbClr val="DD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41448" y="1188720"/>
            <a:ext cx="210312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41448" y="1188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Clothing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78608" y="182880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1901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#1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19019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Blouse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06040" y="2304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171 orders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78608" y="278892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286207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#2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06040" y="28620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06040" y="32644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171 orders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78608" y="374904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38221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#3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06040" y="38221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Shirt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06040" y="4224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169 orders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54296" y="1188720"/>
            <a:ext cx="2103120" cy="3520440"/>
          </a:xfrm>
          <a:prstGeom prst="rect">
            <a:avLst/>
          </a:prstGeom>
          <a:solidFill>
            <a:srgbClr val="F0F7FA"/>
          </a:solidFill>
          <a:ln w="12700">
            <a:solidFill>
              <a:srgbClr val="DD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54296" y="1188720"/>
            <a:ext cx="21031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54296" y="1188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Footwear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91456" y="182880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1901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#1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18888" y="19019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Sandals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18888" y="2304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160 orders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91456" y="278892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286207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#2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18888" y="28620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Shoes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18888" y="32644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150 orders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91456" y="374904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18888" y="38221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#3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18888" y="38221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Sneakers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18888" y="4224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145 orders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67144" y="1188720"/>
            <a:ext cx="2103120" cy="3520440"/>
          </a:xfrm>
          <a:prstGeom prst="rect">
            <a:avLst/>
          </a:prstGeom>
          <a:solidFill>
            <a:srgbClr val="F0F7FA"/>
          </a:solidFill>
          <a:ln w="12700">
            <a:solidFill>
              <a:srgbClr val="DD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67144" y="1188720"/>
            <a:ext cx="21031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67144" y="1188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Outerwear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004304" y="182880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1736" y="1901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#1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31736" y="19019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Jacket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031736" y="2304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163 orders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004304" y="278892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31736" y="286207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#2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031736" y="28620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Coat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031736" y="32644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161 orders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004304" y="374904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31736" y="38221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#3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031736" y="38221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Poncho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031736" y="4224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156 orders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💡  Jewelry, Blouse, and Jacket are category leaders — prioritize these in marketing campaigns.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82880"/>
            <a:ext cx="22860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STRATEGIC RECOMMENDATIONS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29768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Boost Subscriptions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Promote exclusive benefits — only 27% subscribe despite similar avg spend.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429768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60604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Loyalty Programs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0175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Reward repeat buyers to move Returning (701) into the Loyal segment.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703320"/>
            <a:ext cx="429768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7033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Review Discount Policy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50% of Hat purchases use discounts — balance volume vs. margin carefully.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1508760"/>
            <a:ext cx="429768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50876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62356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Product Positioning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3560" y="19202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Highlight Gloves, Sandals &amp; Boots (top-rated) in campaigns.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606040"/>
            <a:ext cx="429768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260604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2356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Targeted Marketing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23560" y="30175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Focus on Young Adults (highest revenue) and Express shipping users.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457200"/>
            <a:ext cx="2743200" cy="2743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B4D8"/>
                </a:solidFill>
              </a:rPr>
              <a:t>Customer Shopping Behavior Analysis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Insights derived from 3,900 transactions | Python · PostgreSQL · Power BI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192024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404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708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3840480"/>
            <a:ext cx="192024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8404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43708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Loyal Customers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840480"/>
            <a:ext cx="192024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8404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43708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Loyalty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3840480"/>
            <a:ext cx="192024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8404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66560" y="43708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Avg Rating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2026-05-04T11:21:45Z</dcterms:created>
  <dcterms:modified xsi:type="dcterms:W3CDTF">2026-05-04T11:21:45Z</dcterms:modified>
</cp:coreProperties>
</file>